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pic>
        <p:nvPicPr>
          <p:cNvPr id="8" name="Image 0" descr="/mnt/data/karaokeshop_logo_dir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24474"/>
            <a:ext cx="3566160" cy="9170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7830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master brief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66928" y="2880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Короткая выжимка всего, что обсуждали: позиционирование, визуальная логика, сайт, интерактивы и то, что нужно передать дизайнеру.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776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CFBF8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41422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" y="4526280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магазин коробок, а интегратор решений под ключ.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0" y="39776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CFBF8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44368" y="41422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944368" y="4526280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Караоке без ошибки в выборе.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919472" y="39776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CFBF8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0" y="41422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20640" y="4526280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+ звук + микрофоны + настройка под помещение.</a:t>
            </a:r>
            <a:endParaRPr lang="en-US" sz="950" dirty="0"/>
          </a:p>
        </p:txBody>
      </p:sp>
      <p:pic>
        <p:nvPicPr>
          <p:cNvPr id="20" name="Image 1" descr="/mnt/data/6434CAEE-8DCA-4B15-84F5-BC82BADCAF11.jpeg">    </p:cNvPr>
          <p:cNvPicPr>
            <a:picLocks noChangeAspect="1"/>
          </p:cNvPicPr>
          <p:nvPr/>
        </p:nvPicPr>
        <p:blipFill>
          <a:blip r:embed="rId2"/>
          <a:srcRect l="0" r="44050" t="10000" b="18000"/>
          <a:stretch/>
        </p:blipFill>
        <p:spPr>
          <a:xfrm>
            <a:off x="7315200" y="914400"/>
            <a:ext cx="1508760" cy="42062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914400"/>
            <a:ext cx="1508760" cy="4206240"/>
          </a:xfrm>
          <a:prstGeom prst="roundRect">
            <a:avLst>
              <a:gd name="adj" fmla="val 7273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22" name="Image 2" descr="/mnt/data/a_clean_modern_user_interface_web_app_screensho.png">    </p:cNvPr>
          <p:cNvPicPr>
            <a:picLocks noChangeAspect="1"/>
          </p:cNvPicPr>
          <p:nvPr/>
        </p:nvPicPr>
        <p:blipFill>
          <a:blip r:embed="rId3"/>
          <a:srcRect l="3000" r="19436" t="3000" b="9000"/>
          <a:stretch/>
        </p:blipFill>
        <p:spPr>
          <a:xfrm>
            <a:off x="9034272" y="914400"/>
            <a:ext cx="2514600" cy="190195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34272" y="914400"/>
            <a:ext cx="2514600" cy="1901952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24" name="Image 3" descr="/mnt/data/ghostwriter_images/context/df586bdf-9261-52ef-a72e-dbcb622283cd.png">    </p:cNvPr>
          <p:cNvPicPr>
            <a:picLocks noChangeAspect="1"/>
          </p:cNvPicPr>
          <p:nvPr/>
        </p:nvPicPr>
        <p:blipFill>
          <a:blip r:embed="rId4"/>
          <a:srcRect l="0" r="2289" t="2000" b="12000"/>
          <a:stretch/>
        </p:blipFill>
        <p:spPr>
          <a:xfrm>
            <a:off x="9034272" y="3063240"/>
            <a:ext cx="1078992" cy="20574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34272" y="3063240"/>
            <a:ext cx="1078992" cy="2057400"/>
          </a:xfrm>
          <a:prstGeom prst="roundRect">
            <a:avLst>
              <a:gd name="adj" fmla="val 101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26" name="Image 4" descr="/mnt/data/karaokeshop_logo_direc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3289619"/>
            <a:ext cx="1261872" cy="324481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0287000" y="3063240"/>
            <a:ext cx="1261872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0296144" y="406908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EF4FF"/>
          </a:solidFill>
          <a:ln w="10160">
            <a:solidFill>
              <a:srgbClr val="D6E3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369296" y="4137660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direction</a:t>
            </a:r>
            <a:endParaRPr lang="en-US" sz="840" dirty="0"/>
          </a:p>
        </p:txBody>
      </p:sp>
      <p:sp>
        <p:nvSpPr>
          <p:cNvPr id="30" name="Shape 23"/>
          <p:cNvSpPr/>
          <p:nvPr/>
        </p:nvSpPr>
        <p:spPr>
          <a:xfrm>
            <a:off x="10296144" y="446227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EF4FF"/>
          </a:solidFill>
          <a:ln w="10160">
            <a:solidFill>
              <a:srgbClr val="D6E3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369296" y="4530852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first</a:t>
            </a:r>
            <a:endParaRPr lang="en-US" sz="840" dirty="0"/>
          </a:p>
        </p:txBody>
      </p:sp>
      <p:sp>
        <p:nvSpPr>
          <p:cNvPr id="32" name="Shape 25"/>
          <p:cNvSpPr/>
          <p:nvPr/>
        </p:nvSpPr>
        <p:spPr>
          <a:xfrm>
            <a:off x="10296144" y="4855464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EF4FF"/>
          </a:solidFill>
          <a:ln w="10160">
            <a:solidFill>
              <a:srgbClr val="D6E3F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0369296" y="4924044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UX</a:t>
            </a:r>
            <a:endParaRPr lang="en-US" sz="840" dirty="0"/>
          </a:p>
        </p:txBody>
      </p:sp>
      <p:sp>
        <p:nvSpPr>
          <p:cNvPr id="34" name="Text 27"/>
          <p:cNvSpPr/>
          <p:nvPr/>
        </p:nvSpPr>
        <p:spPr>
          <a:xfrm>
            <a:off x="566928" y="55321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финальный дизайн. Это карта направления, чтобы не потерять решения и не уйти в “просто каталог”.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37" name="Text 30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3152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Суть проекта: гибрид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каталога и услуги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структура не должна быть “товары и цены”. Сайт должен объяснять, подбирать и затем продавать.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2F6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0779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Эмоция и доверие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3291840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должен почувствовать: “да, это для моего дома / бани / зала”.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42032" y="3456432"/>
            <a:ext cx="256032" cy="0"/>
          </a:xfrm>
          <a:prstGeom prst="line">
            <a:avLst/>
          </a:prstGeom>
          <a:noFill/>
          <a:ln w="13970">
            <a:solidFill>
              <a:srgbClr val="1D55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16352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90779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Сценарий и подбор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3291840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помещение и задача, потом уже система и цена.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9744" y="3456432"/>
            <a:ext cx="256032" cy="0"/>
          </a:xfrm>
          <a:prstGeom prst="line">
            <a:avLst/>
          </a:prstGeom>
          <a:noFill/>
          <a:ln w="13970">
            <a:solidFill>
              <a:srgbClr val="1D55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84064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290779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Каталог и комплекты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85232" y="3291840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Товары нужны, но в контексте готового решения.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77456" y="3456432"/>
            <a:ext cx="256032" cy="0"/>
          </a:xfrm>
          <a:prstGeom prst="line">
            <a:avLst/>
          </a:prstGeom>
          <a:noFill/>
          <a:ln w="13970">
            <a:solidFill>
              <a:srgbClr val="1D55E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51776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290779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Экспертность и кейсы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52944" y="3291840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 опыт, объяснения, отзывы, демо-комнату.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345168" y="3456432"/>
            <a:ext cx="256032" cy="0"/>
          </a:xfrm>
          <a:prstGeom prst="line">
            <a:avLst/>
          </a:prstGeom>
          <a:noFill/>
          <a:ln w="13970">
            <a:solidFill>
              <a:srgbClr val="1D55E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19488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0656" y="290779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Заявка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20656" y="3291840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 / WhatsApp / подбор комплекта без лишних вопросов.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4846320"/>
            <a:ext cx="10789920" cy="594360"/>
          </a:xfrm>
          <a:prstGeom prst="roundRect">
            <a:avLst>
              <a:gd name="adj" fmla="val 18462"/>
            </a:avLst>
          </a:prstGeom>
          <a:solidFill>
            <a:srgbClr val="EEF4FF"/>
          </a:solidFill>
          <a:ln w="12700">
            <a:solidFill>
              <a:srgbClr val="D5E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010912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логика: эмоция → сценарий → выбор → доверие → обращение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56875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Психологически это снижает риск: клиенту не нужно сразу разбираться в моделях, он сначала узнаёт свою задачу.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делаем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что делаем вместо этого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ключевые ограничения, чтобы дизайнер не ушёл в старую логику магазина или в тяжёлый “клубный” сайт.</a:t>
            </a:r>
            <a:endParaRPr lang="en-US" sz="1250" dirty="0"/>
          </a:p>
        </p:txBody>
      </p:sp>
      <p:pic>
        <p:nvPicPr>
          <p:cNvPr id="10" name="Image 0" descr="/mnt/data/80ECB0DF-39CF-4C64-AB0B-AB1C66ACB9CA.jpeg">    </p:cNvPr>
          <p:cNvPicPr>
            <a:picLocks noChangeAspect="1"/>
          </p:cNvPicPr>
          <p:nvPr/>
        </p:nvPicPr>
        <p:blipFill>
          <a:blip r:embed="rId1"/>
          <a:srcRect l="8000" r="9223" t="15000" b="21000"/>
          <a:stretch/>
        </p:blipFill>
        <p:spPr>
          <a:xfrm>
            <a:off x="685800" y="2514600"/>
            <a:ext cx="1828800" cy="3063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514600"/>
            <a:ext cx="1828800" cy="306324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5715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копируем: просто категории, красный шум, “музыкальный магазин”.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788920" y="251460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53512" y="2679192"/>
            <a:ext cx="292608" cy="292608"/>
          </a:xfrm>
          <a:prstGeom prst="ellipse">
            <a:avLst/>
          </a:prstGeom>
          <a:solidFill>
            <a:srgbClr val="D65252"/>
          </a:solidFill>
          <a:ln w="12700">
            <a:solidFill>
              <a:srgbClr val="D652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53512" y="271576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37560" y="267919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товар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90088" y="3063240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покупает не “коробку”, а вечер, удобство и правильно работающую систему.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88920" y="384048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53512" y="4005072"/>
            <a:ext cx="292608" cy="292608"/>
          </a:xfrm>
          <a:prstGeom prst="ellipse">
            <a:avLst/>
          </a:prstGeom>
          <a:solidFill>
            <a:srgbClr val="D65252"/>
          </a:solidFill>
          <a:ln w="12700">
            <a:solidFill>
              <a:srgbClr val="D652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53512" y="40416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337560" y="400507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тяжёлый luxury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990088" y="4389120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золота, пафоса, дешёвого RGB и чёрного клубного перегруза.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66360" y="251460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30952" y="267919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30952" y="271576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15000" y="267919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Да: экспертный подбор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67528" y="3063240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Помещение, площадь, бюджет, сценарий, комплект, настройка.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166360" y="384048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30952" y="400507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30952" y="40416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715000" y="400507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Да: живой бренд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67528" y="4389120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Минимализм, воздух, понятные блоки, реальные товары, честные объяснения.</a:t>
            </a:r>
            <a:endParaRPr lang="en-US" sz="950" dirty="0"/>
          </a:p>
        </p:txBody>
      </p:sp>
      <p:pic>
        <p:nvPicPr>
          <p:cNvPr id="33" name="Image 1" descr="/mnt/data/a_clean_modern_user_interface_web_app_screensho.png">    </p:cNvPr>
          <p:cNvPicPr>
            <a:picLocks noChangeAspect="1"/>
          </p:cNvPicPr>
          <p:nvPr/>
        </p:nvPicPr>
        <p:blipFill>
          <a:blip r:embed="rId2"/>
          <a:srcRect l="5000" r="15398" t="5000" b="13000"/>
          <a:stretch/>
        </p:blipFill>
        <p:spPr>
          <a:xfrm>
            <a:off x="7543800" y="2331720"/>
            <a:ext cx="3794760" cy="260604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7543800" y="2331720"/>
            <a:ext cx="3794760" cy="2606040"/>
          </a:xfrm>
          <a:prstGeom prst="roundRect">
            <a:avLst>
              <a:gd name="adj" fmla="val 4211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635240" y="51663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логика: “помогаем не ошибиться”, а не “смотрите весь ассортимент”.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38" name="Text 34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сайта: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первичная карта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Подробную структуру страниц можно проговорить отдельно. Сейчас фиксируем логику: услуга + каталог + экспертность.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EFF4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679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5528" y="3063240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объяснить и направить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651760" y="251460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2679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дома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52928" y="3063240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частные дома, гостиные, бани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4709160" y="251460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679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бизнеса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0328" y="3063240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рестораны, VIP, залы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6766560" y="251460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2679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Домашний кинотеатр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67728" y="3063240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допродажа и отдельное направление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94360" y="3392424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5570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Evolution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5528" y="3941064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SEO-страница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2651760" y="3392424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35570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/ Art System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52928" y="3941064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отдельная линейка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4709160" y="3392424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35570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или Evolution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0328" y="3941064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честное сравнение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6766560" y="3392424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35570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решения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67728" y="3941064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комплекты по сценариям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594360" y="4270248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4434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и настройка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5528" y="4818888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под ключ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2651760" y="4270248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4434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Демо-комната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852928" y="4818888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 и прослушивание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4709160" y="4270248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4434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/ база знаний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10328" y="4818888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и ответы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6766560" y="4270248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4434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Контакты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67728" y="4818888"/>
            <a:ext cx="14264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звонок, WhatsApp, адрес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8732520" y="251460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7F9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42832" y="27432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роль сайта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942832" y="3154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объяснить выбор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собрать комплект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показать доверие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вывести в заявку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869680" y="4800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только магазин и не только услуга: экспертная платформа подбора.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страница: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должно идти сверху вниз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экран быстро объясняет пользу, дальше сайт ведёт человека к выбору и обращению.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5257800" cy="402336"/>
          </a:xfrm>
          <a:prstGeom prst="roundRect">
            <a:avLst>
              <a:gd name="adj" fmla="val 22727"/>
            </a:avLst>
          </a:prstGeom>
          <a:solidFill>
            <a:srgbClr val="F1F6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587752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Первый экран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86968" y="2971800"/>
            <a:ext cx="4855464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оффер + 2 CTA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85800" y="2953512"/>
            <a:ext cx="52578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118104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Быстрый выбор сценария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86968" y="3502152"/>
            <a:ext cx="4855464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 / бизнес / баня / VIP / кинотеатр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685800" y="3483864"/>
            <a:ext cx="52578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484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Готовые решения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86968" y="4032504"/>
            <a:ext cx="4855464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площади и бюджету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85800" y="4014216"/>
            <a:ext cx="52578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178808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Сравнение брендов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86968" y="4562856"/>
            <a:ext cx="4855464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и Evolution без конфликта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685800" y="4544568"/>
            <a:ext cx="52578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709160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Почему “под ключ”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86968" y="5093208"/>
            <a:ext cx="4855464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системы и настройка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685800" y="5074920"/>
            <a:ext cx="52578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239512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Кейсы и отзывы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886968" y="5623560"/>
            <a:ext cx="4855464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живые примеры, не тяжёлая галерея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685800" y="5605272"/>
            <a:ext cx="52578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5769864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FAQ + CTA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886968" y="6153912"/>
            <a:ext cx="4855464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сомнения и вывести в заявку</a:t>
            </a:r>
            <a:endParaRPr lang="en-US" sz="770" dirty="0"/>
          </a:p>
        </p:txBody>
      </p:sp>
      <p:pic>
        <p:nvPicPr>
          <p:cNvPr id="31" name="Image 0" descr="/mnt/data/главная_страница_и_ключевые_блоки.png">    </p:cNvPr>
          <p:cNvPicPr>
            <a:picLocks noChangeAspect="1"/>
          </p:cNvPicPr>
          <p:nvPr/>
        </p:nvPicPr>
        <p:blipFill>
          <a:blip r:embed="rId1"/>
          <a:srcRect l="2000" r="15866" t="0" b="7000"/>
          <a:stretch/>
        </p:blipFill>
        <p:spPr>
          <a:xfrm>
            <a:off x="6629400" y="960120"/>
            <a:ext cx="4663440" cy="29718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6629400" y="960120"/>
            <a:ext cx="4663440" cy="2971800"/>
          </a:xfrm>
          <a:prstGeom prst="roundRect">
            <a:avLst>
              <a:gd name="adj" fmla="val 3692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33" name="Image 1" descr="/mnt/data/a_clean_modern_user_interface_web_app_screensho.png">    </p:cNvPr>
          <p:cNvPicPr>
            <a:picLocks noChangeAspect="1"/>
          </p:cNvPicPr>
          <p:nvPr/>
        </p:nvPicPr>
        <p:blipFill>
          <a:blip r:embed="rId2"/>
          <a:srcRect l="5000" r="-50379" t="9000" b="29000"/>
          <a:stretch/>
        </p:blipFill>
        <p:spPr>
          <a:xfrm>
            <a:off x="6629400" y="4160520"/>
            <a:ext cx="4663440" cy="132588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629400" y="4160520"/>
            <a:ext cx="46634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02552" y="57150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Важно: не ставить тяжёлый скролл или анимацию первым экраном. Сначала смысл и CTA, потом интерактив.</a:t>
            </a:r>
            <a:endParaRPr lang="en-US" sz="920" dirty="0"/>
          </a:p>
        </p:txBody>
      </p:sp>
      <p:sp>
        <p:nvSpPr>
          <p:cNvPr id="36" name="Shape 32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38" name="Text 34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 и визуальное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вектор ещё можно дорабатывать, но выбранное направление: синий wordmark + микрофон сверху/в букве.</a:t>
            </a:r>
            <a:endParaRPr lang="en-US" sz="1250" dirty="0"/>
          </a:p>
        </p:txBody>
      </p:sp>
      <p:pic>
        <p:nvPicPr>
          <p:cNvPr id="10" name="Image 0" descr="/mnt/data/karaokeshop_logo_dir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81151"/>
            <a:ext cx="4572000" cy="117565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514600"/>
            <a:ext cx="457200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434340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CFBF8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45079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сохраняем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6968" y="4892040"/>
            <a:ext cx="41696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синий знак, микрофон как главная метафора, clean wordmark, без японских клише, без гор, совы, монограмм и “кабель-змеи”.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43600" y="251460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ЗАБРАКОВАННЫЕ НАПРАВЛЕНИЯ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5943600" y="2734056"/>
            <a:ext cx="365760" cy="0"/>
          </a:xfrm>
          <a:prstGeom prst="line">
            <a:avLst/>
          </a:prstGeom>
          <a:noFill/>
          <a:ln w="16510">
            <a:solidFill>
              <a:srgbClr val="0E36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297180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FFFDFC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313639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горы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90488" y="3520440"/>
            <a:ext cx="117043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география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7863840" y="297180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FFFDFC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313639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сова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65008" y="3520440"/>
            <a:ext cx="117043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 караоке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9738360" y="2971800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FFFDFC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9528" y="313639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939528" y="3520440"/>
            <a:ext cx="117043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монограмма нечитабельна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5989320" y="3959352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FFFDFC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90488" y="41239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 кабель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90488" y="4507992"/>
            <a:ext cx="117043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похоже на чужой стиль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7863840" y="3959352"/>
            <a:ext cx="1572768" cy="713232"/>
          </a:xfrm>
          <a:prstGeom prst="roundRect">
            <a:avLst>
              <a:gd name="adj" fmla="val 12821"/>
            </a:avLst>
          </a:prstGeom>
          <a:solidFill>
            <a:srgbClr val="FFFDFC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41239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буквальный микрофон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65008" y="4507992"/>
            <a:ext cx="117043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банально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5943600" y="50749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 МИНИМАЛИЗМА</a:t>
            </a:r>
            <a:endParaRPr lang="en-US" sz="720" dirty="0"/>
          </a:p>
        </p:txBody>
      </p:sp>
      <p:sp>
        <p:nvSpPr>
          <p:cNvPr id="33" name="Shape 30"/>
          <p:cNvSpPr/>
          <p:nvPr/>
        </p:nvSpPr>
        <p:spPr>
          <a:xfrm>
            <a:off x="5943600" y="5294376"/>
            <a:ext cx="365760" cy="0"/>
          </a:xfrm>
          <a:prstGeom prst="line">
            <a:avLst/>
          </a:prstGeom>
          <a:noFill/>
          <a:ln w="16510">
            <a:solidFill>
              <a:srgbClr val="0E36A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89320" y="5440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“Япония” буквально, а чистота и внимание к деталям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воздух, порядок, ясные блоки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техника + эмоция без перегруза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37" name="Text 34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код: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сохраняем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Палитра не финальная. Дизайнеру нужно предложить 2–3 moodboard-варианта в этом направлении.</a:t>
            </a:r>
            <a:endParaRPr lang="en-US" sz="1250" dirty="0"/>
          </a:p>
        </p:txBody>
      </p:sp>
      <p:pic>
        <p:nvPicPr>
          <p:cNvPr id="10" name="Image 0" descr="/mnt/data/karaokeshop_logo_dir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06762"/>
            <a:ext cx="3794760" cy="9757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" y="2423160"/>
            <a:ext cx="379476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38862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40507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32688" y="4434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светлая база, молочный/тёплый белый, много воздуха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816352" y="38862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0" y="40507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17520" y="4434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графит, чёткая типографика, не мелко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901184" y="38862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40507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Акцент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02352" y="4434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сложный синий/teal, не холодная бирюза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986016" y="38862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87184" y="40507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Эмоция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87184" y="4434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винный/терракотовый редко и точечно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070848" y="38862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72016" y="40507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делаем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272016" y="4434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 AST, чёрный клуб, золото, RGB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00800" y="2423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8F7F4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3640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тёплый фон</a:t>
            </a:r>
            <a:endParaRPr lang="en-US" sz="670" dirty="0"/>
          </a:p>
        </p:txBody>
      </p:sp>
      <p:sp>
        <p:nvSpPr>
          <p:cNvPr id="29" name="Shape 26"/>
          <p:cNvSpPr/>
          <p:nvPr/>
        </p:nvSpPr>
        <p:spPr>
          <a:xfrm>
            <a:off x="7205472" y="2423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3262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68312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графит</a:t>
            </a:r>
            <a:endParaRPr lang="en-US" sz="670" dirty="0"/>
          </a:p>
        </p:txBody>
      </p:sp>
      <p:sp>
        <p:nvSpPr>
          <p:cNvPr id="31" name="Shape 28"/>
          <p:cNvSpPr/>
          <p:nvPr/>
        </p:nvSpPr>
        <p:spPr>
          <a:xfrm>
            <a:off x="8010144" y="2423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36A8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72984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синий</a:t>
            </a:r>
            <a:endParaRPr lang="en-US" sz="670" dirty="0"/>
          </a:p>
        </p:txBody>
      </p:sp>
      <p:sp>
        <p:nvSpPr>
          <p:cNvPr id="33" name="Shape 30"/>
          <p:cNvSpPr/>
          <p:nvPr/>
        </p:nvSpPr>
        <p:spPr>
          <a:xfrm>
            <a:off x="8814816" y="2423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B6B72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77656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670" dirty="0"/>
          </a:p>
        </p:txBody>
      </p:sp>
      <p:sp>
        <p:nvSpPr>
          <p:cNvPr id="35" name="Shape 32"/>
          <p:cNvSpPr/>
          <p:nvPr/>
        </p:nvSpPr>
        <p:spPr>
          <a:xfrm>
            <a:off x="9619488" y="2423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8E2E35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82328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винный</a:t>
            </a:r>
            <a:endParaRPr lang="en-US" sz="670" dirty="0"/>
          </a:p>
        </p:txBody>
      </p:sp>
      <p:sp>
        <p:nvSpPr>
          <p:cNvPr id="37" name="Text 34"/>
          <p:cNvSpPr/>
          <p:nvPr/>
        </p:nvSpPr>
        <p:spPr>
          <a:xfrm>
            <a:off x="731520" y="5394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Нужное ощущение: дом + музыка + техника + экспертность.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40" name="Text 37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 №1: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подборщик / калькулятор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первой версии — без загрузки фото. Только быстрый выбор параметров и условная схема.</a:t>
            </a:r>
            <a:endParaRPr lang="en-US" sz="1250" dirty="0"/>
          </a:p>
        </p:txBody>
      </p:sp>
      <p:pic>
        <p:nvPicPr>
          <p:cNvPr id="10" name="Image 0" descr="/mnt/data/a_clean_modern_user_interface_web_app_screensho.png">    </p:cNvPr>
          <p:cNvPicPr>
            <a:picLocks noChangeAspect="1"/>
          </p:cNvPicPr>
          <p:nvPr/>
        </p:nvPicPr>
        <p:blipFill>
          <a:blip r:embed="rId1"/>
          <a:srcRect l="3000" r="-6642" t="3000" b="13000"/>
          <a:stretch/>
        </p:blipFill>
        <p:spPr>
          <a:xfrm>
            <a:off x="685800" y="2331720"/>
            <a:ext cx="5669280" cy="3063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331720"/>
            <a:ext cx="5669280" cy="3063240"/>
          </a:xfrm>
          <a:prstGeom prst="roundRect">
            <a:avLst>
              <a:gd name="adj" fmla="val 3582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233172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93992" y="24963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93992" y="25328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178040" y="24963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выбирает клиент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30568" y="2880360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помещения, площадь, высота, гости, бюджет, монтаж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144000" y="233172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08592" y="24963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08592" y="25328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692640" y="24963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45168" y="2880360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примерный комплект, условную схему, цену “от”, CTA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629400" y="370332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93992" y="38679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93992" y="39044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178040" y="38679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обещаем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30568" y="4251960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проект по фото, реальные провода и крепления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144000" y="370332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08592" y="38679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08592" y="39044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692640" y="38679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нужно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45168" y="4251960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страх выбора и объяснить состав системы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629400" y="5166360"/>
            <a:ext cx="4800600" cy="502920"/>
          </a:xfrm>
          <a:prstGeom prst="roundRect">
            <a:avLst>
              <a:gd name="adj" fmla="val 21818"/>
            </a:avLst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20840" y="532180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“Получить точный расчёт в WhatsApp” / “Позвонить”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36" name="Text 33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Подборщик: от прототипа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нормальному блоку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показал идею, но в сайт нужно внедрять аккуратно: светло, быстро, понятно, без перегруза.</a:t>
            </a:r>
            <a:endParaRPr lang="en-US" sz="1250" dirty="0"/>
          </a:p>
        </p:txBody>
      </p:sp>
      <p:pic>
        <p:nvPicPr>
          <p:cNvPr id="10" name="Image 0" descr="/mnt/data/ghostwriter_images/context/297acc54-87dc-50a2-8dfa-ecfdaee271d6.jpg">    </p:cNvPr>
          <p:cNvPicPr>
            <a:picLocks noChangeAspect="1"/>
          </p:cNvPicPr>
          <p:nvPr/>
        </p:nvPicPr>
        <p:blipFill>
          <a:blip r:embed="rId1"/>
          <a:srcRect l="8000" r="23750" t="5000" b="30000"/>
          <a:stretch/>
        </p:blipFill>
        <p:spPr>
          <a:xfrm>
            <a:off x="685800" y="2423160"/>
            <a:ext cx="2560320" cy="1828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423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12" name="Image 1" descr="/mnt/data/ghostwriter_images/context/b1eb71b6-a323-5a70-9dd8-6d354ca546c7.jpg">    </p:cNvPr>
          <p:cNvPicPr>
            <a:picLocks noChangeAspect="1"/>
          </p:cNvPicPr>
          <p:nvPr/>
        </p:nvPicPr>
        <p:blipFill>
          <a:blip r:embed="rId2"/>
          <a:srcRect l="8000" r="-16267" t="16000" b="26000"/>
          <a:stretch/>
        </p:blipFill>
        <p:spPr>
          <a:xfrm>
            <a:off x="3474720" y="2423160"/>
            <a:ext cx="2560320" cy="1828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74720" y="2423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14" name="Image 2" descr="/mnt/data/ghostwriter_images/context/7b1d6639-69bf-52c5-987c-437e6b724148.jpg">    </p:cNvPr>
          <p:cNvPicPr>
            <a:picLocks noChangeAspect="1"/>
          </p:cNvPicPr>
          <p:nvPr/>
        </p:nvPicPr>
        <p:blipFill>
          <a:blip r:embed="rId3"/>
          <a:srcRect l="6000" r="-25467" t="13000" b="23000"/>
          <a:stretch/>
        </p:blipFill>
        <p:spPr>
          <a:xfrm>
            <a:off x="6263640" y="2423160"/>
            <a:ext cx="2560320" cy="18288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63640" y="2423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0" y="242316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7F9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345168" y="25877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Правка для сайта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345168" y="2971800"/>
            <a:ext cx="18836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тёмный инженерный вид, не “эконом”, не фото-загрузка. Сделать как понятный помощник выбора.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77240" y="48006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Формулировки уровней: “разумный старт” / “оптимальное решение” / “премиум или проектный уровень”.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22" name="Text 17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 №2: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скролл кейсов / отзывов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со “спиральным” скроллом хороша не для первого экрана, а для блока проектов, отзывов и сценариев.</a:t>
            </a:r>
            <a:endParaRPr lang="en-US" sz="1250" dirty="0"/>
          </a:p>
        </p:txBody>
      </p:sp>
      <p:pic>
        <p:nvPicPr>
          <p:cNvPr id="10" name="Image 0" descr="/mnt/data/ghostwriter_images/context/df586bdf-9261-52ef-a72e-dbcb622283cd.png">    </p:cNvPr>
          <p:cNvPicPr>
            <a:picLocks noChangeAspect="1"/>
          </p:cNvPicPr>
          <p:nvPr/>
        </p:nvPicPr>
        <p:blipFill>
          <a:blip r:embed="rId1"/>
          <a:srcRect l="0" r="5555" t="0" b="18000"/>
          <a:stretch/>
        </p:blipFill>
        <p:spPr>
          <a:xfrm>
            <a:off x="777240" y="2286000"/>
            <a:ext cx="1920240" cy="3611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286000"/>
            <a:ext cx="1920240" cy="3611880"/>
          </a:xfrm>
          <a:prstGeom prst="roundRect">
            <a:avLst>
              <a:gd name="adj" fmla="val 5714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63240" y="233172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27832" y="24963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27832" y="25328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611880" y="24963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использовать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64408" y="2880360"/>
            <a:ext cx="2020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основных объяснений: “реализованные решения”, отзывы, сценарии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233172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33872" y="24963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33872" y="25328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217920" y="24963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не перегрузить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70448" y="2880360"/>
            <a:ext cx="2020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мягкий горизонтальный/объёмный скролл, без обязательного долгого прокручивания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275320" y="233172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39912" y="24963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9912" y="25328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823960" y="24963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 карточке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76488" y="2880360"/>
            <a:ext cx="2020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объекта, площадь, система, город, короткий отзыв, CTA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063240" y="416052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2F6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64408" y="4325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64408" y="4709160"/>
            <a:ext cx="18379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м² · гостиная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1 650 000 ₸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669280" y="416052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70448" y="4325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Баня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870448" y="4709160"/>
            <a:ext cx="18379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м² · комната отдыха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2 100 000 ₸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275320" y="416052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76488" y="4325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476488" y="4709160"/>
            <a:ext cx="18379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м² · бизнес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индивидуально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108960" y="58064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делать: тяжёлый “аттракцион” на первом экране. Делать: спокойный визуальный блок доверия.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39" name="Text 36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и 3D: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аккуратно, не как аттракцион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Эффекты должны помогать объяснить: эмоция → оборудование → установка → результат.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2F6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58775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6243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34440" y="25877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Эмоция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971800"/>
            <a:ext cx="1929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люди, вечер, дом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81528" y="2999232"/>
            <a:ext cx="228600" cy="0"/>
          </a:xfrm>
          <a:prstGeom prst="line">
            <a:avLst/>
          </a:prstGeom>
          <a:noFill/>
          <a:ln w="13970">
            <a:solidFill>
              <a:srgbClr val="1D55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29000" y="242316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258775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26243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77640" y="25877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30168" y="2971800"/>
            <a:ext cx="1929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система, микрофоны, акустика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24728" y="2999232"/>
            <a:ext cx="228600" cy="0"/>
          </a:xfrm>
          <a:prstGeom prst="line">
            <a:avLst/>
          </a:prstGeom>
          <a:noFill/>
          <a:ln w="13970">
            <a:solidFill>
              <a:srgbClr val="1D55E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72200" y="242316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6792" y="258775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26243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20840" y="25877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73368" y="2971800"/>
            <a:ext cx="1929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кабели, настройка, монтаж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67928" y="2999232"/>
            <a:ext cx="228600" cy="0"/>
          </a:xfrm>
          <a:prstGeom prst="line">
            <a:avLst/>
          </a:prstGeom>
          <a:noFill/>
          <a:ln w="13970">
            <a:solidFill>
              <a:srgbClr val="1D55E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15400" y="242316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79992" y="258775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9992" y="26243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464040" y="25877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16568" y="2971800"/>
            <a:ext cx="1929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готовое пространство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5800" y="42976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446227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6968" y="484632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короткое видео 6–10 сек, лёгкий sticky-scroll, мягкое появление, микро-3D системы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2976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3128" y="446227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Осторожно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53128" y="484632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только для продукта или схемы. Не превращать сайт в презентацию ради эффекта.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18120" y="42976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FF9F8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9288" y="446227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19288" y="484632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медленная загрузка, тяжёлый first screen, хаотичные анимации, “игровой” неон.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68680" y="57607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критерий: эффект помогает понять решение и повышает доверие, а не отвлекает от звонка/заявки.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45" name="Text 43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Продуктовая логика: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спорить “кто лучше”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Evolution и AST объясняем как две сильные линейки. Выбор строится вокруг сценария, контента, бюджета и помещения.</a:t>
            </a:r>
            <a:endParaRPr lang="en-US" sz="1250" dirty="0"/>
          </a:p>
        </p:txBody>
      </p:sp>
      <p:pic>
        <p:nvPicPr>
          <p:cNvPr id="10" name="Image 0" descr="/mnt/data/E84BDA6D-DA00-41CC-99FE-FD9E39E86606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21268"/>
            <a:ext cx="2057400" cy="12668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51460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12" name="Image 1" descr="/mnt/data/3948674A-4143-4C78-B4A0-01C76B7DCA07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4114800"/>
            <a:ext cx="1905000" cy="1143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7240" y="411480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154680" y="2331720"/>
            <a:ext cx="3703320" cy="1325880"/>
          </a:xfrm>
          <a:prstGeom prst="roundRect">
            <a:avLst>
              <a:gd name="adj" fmla="val 6897"/>
            </a:avLst>
          </a:prstGeom>
          <a:solidFill>
            <a:srgbClr val="FCFBF8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55848" y="249631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Evolution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55848" y="2880360"/>
            <a:ext cx="3300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EvoBox — старт для дома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EvoBox Plus — оптимальный домашний вариант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— Hi-End / VIP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— подписка, бизнес/сезонность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Pro2 — заведения, общий зал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315200" y="2331720"/>
            <a:ext cx="3703320" cy="1325880"/>
          </a:xfrm>
          <a:prstGeom prst="roundRect">
            <a:avLst>
              <a:gd name="adj" fmla="val 6897"/>
            </a:avLst>
          </a:prstGeom>
          <a:solidFill>
            <a:srgbClr val="FCFBF8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16368" y="249631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/ Art System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516368" y="2880360"/>
            <a:ext cx="3300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— доступный вход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2 — основной AST-вариант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AST-250 — премиум / проект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AST-350 — старшая модель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OneBox — простое “всё в одном”, осторожно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154680" y="4069080"/>
            <a:ext cx="7863840" cy="82296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37560" y="4315968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Формулировка для сайта: “Обе системы сильные. Главное — выбрать правильную модель под вашу задачу”.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291840" y="51663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писать: “AST серьёзнее”, “Evolution только lifestyle”, “у кого больше песен — тот лучше”.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Караоке под ключ: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объяснить цену через состав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блок сайта: “караоке” — это не одна коробка, а связанная система.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67919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71576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80160" y="2679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Караоке-система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30632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песен и интерфейс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514600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267919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71576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2679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Микрофоны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0288" y="30632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и стабильность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0" y="2514600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267919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271576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2679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Акустика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47888" y="30632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 под площадь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931920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0965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1330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80160" y="40965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Саб / микшер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4805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задаче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0" y="3931920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40965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41330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37760" y="40965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Кабели / стойки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0288" y="44805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монтажная часть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46720" y="3931920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1312" y="4096512"/>
            <a:ext cx="292608" cy="292608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1312" y="41330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0965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47888" y="44805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всё работало вместе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7240" y="5532120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4EFE7"/>
          </a:solidFill>
          <a:ln w="12700">
            <a:solidFill>
              <a:srgbClr val="E2D8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660136"/>
            <a:ext cx="10332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Ориентиры: базовое правильное решение от 1.4–1.6 млн ₸ · оптимальное от 1.8–2.5 млн ₸ · проектный уровень от 2.5 млн ₸+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44" name="Text 42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Визуальные референсы: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передать дизайнеру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Использовать как настроение и логику, не как финальные макеты.</a:t>
            </a:r>
            <a:endParaRPr lang="en-US" sz="1250" dirty="0"/>
          </a:p>
        </p:txBody>
      </p:sp>
      <p:pic>
        <p:nvPicPr>
          <p:cNvPr id="10" name="Image 0" descr="/mnt/data/karaokeshop_logo_dir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62933"/>
            <a:ext cx="2468880" cy="63485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" y="242316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12" name="Image 1" descr="/mnt/data/ghostwriter_images/context/df586bdf-9261-52ef-a72e-dbcb622283cd.png">    </p:cNvPr>
          <p:cNvPicPr>
            <a:picLocks noChangeAspect="1"/>
          </p:cNvPicPr>
          <p:nvPr/>
        </p:nvPicPr>
        <p:blipFill>
          <a:blip r:embed="rId2"/>
          <a:srcRect l="0" r="2113" t="4000" b="14000"/>
          <a:stretch/>
        </p:blipFill>
        <p:spPr>
          <a:xfrm>
            <a:off x="3474720" y="2423160"/>
            <a:ext cx="1234440" cy="22402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74720" y="2423160"/>
            <a:ext cx="1234440" cy="2240280"/>
          </a:xfrm>
          <a:prstGeom prst="roundRect">
            <a:avLst>
              <a:gd name="adj" fmla="val 8889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14" name="Image 2" descr="/mnt/data/a_clean_modern_user_interface_web_app_screensho.png">    </p:cNvPr>
          <p:cNvPicPr>
            <a:picLocks noChangeAspect="1"/>
          </p:cNvPicPr>
          <p:nvPr/>
        </p:nvPicPr>
        <p:blipFill>
          <a:blip r:embed="rId3"/>
          <a:srcRect l="3000" r="23857" t="3000" b="13000"/>
          <a:stretch/>
        </p:blipFill>
        <p:spPr>
          <a:xfrm>
            <a:off x="5074920" y="2423160"/>
            <a:ext cx="2926080" cy="22402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74920" y="2423160"/>
            <a:ext cx="292608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pic>
        <p:nvPicPr>
          <p:cNvPr id="16" name="Image 3" descr="/mnt/data/6434CAEE-8DCA-4B15-84F5-BC82BADCAF11.jpeg">    </p:cNvPr>
          <p:cNvPicPr>
            <a:picLocks noChangeAspect="1"/>
          </p:cNvPicPr>
          <p:nvPr/>
        </p:nvPicPr>
        <p:blipFill>
          <a:blip r:embed="rId4"/>
          <a:srcRect l="0" r="16438" t="8000" b="22000"/>
          <a:stretch/>
        </p:blipFill>
        <p:spPr>
          <a:xfrm>
            <a:off x="8321040" y="2423160"/>
            <a:ext cx="1234440" cy="22402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321040" y="2423160"/>
            <a:ext cx="1234440" cy="2240280"/>
          </a:xfrm>
          <a:prstGeom prst="roundRect">
            <a:avLst>
              <a:gd name="adj" fmla="val 8889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829800" y="2423160"/>
            <a:ext cx="1508760" cy="2240280"/>
          </a:xfrm>
          <a:prstGeom prst="roundRect">
            <a:avLst>
              <a:gd name="adj" fmla="val 6061"/>
            </a:avLst>
          </a:prstGeom>
          <a:solidFill>
            <a:srgbClr val="F8FB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0030968" y="258775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0030968" y="2971800"/>
            <a:ext cx="11064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не картинки, а систему: логотип, главная, подборщик, кейсы, товары, заявки.</a:t>
            </a:r>
            <a:endParaRPr lang="en-US" sz="820" dirty="0"/>
          </a:p>
        </p:txBody>
      </p:sp>
      <p:sp>
        <p:nvSpPr>
          <p:cNvPr id="21" name="Text 15"/>
          <p:cNvSpPr/>
          <p:nvPr/>
        </p:nvSpPr>
        <p:spPr>
          <a:xfrm>
            <a:off x="777240" y="507492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Использовать только проверенные/реальные фото товаров. AI — только для атмосферы, схем и фонов.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77240" y="553212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Удалено из этой версии: прямые фотографии офиса и квартиры. Их лучше не использовать как основу презентации дизайна.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KARAOKESHOP.KZ — VISUAL BRIEF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3566160" y="246888"/>
            <a:ext cx="585216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64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899648" y="164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1841480" y="201168"/>
            <a:ext cx="45720" cy="45720"/>
          </a:xfrm>
          <a:prstGeom prst="ellipse">
            <a:avLst/>
          </a:prstGeom>
          <a:solidFill>
            <a:srgbClr val="0E36A8"/>
          </a:solidFill>
          <a:ln w="12700">
            <a:solidFill>
              <a:srgbClr val="0E3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1323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работать дальше: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поэтапно, без ожидания идеала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Этот документ — стартовая выжимка. Детальную структуру сайта и страницы лучше проговорить следующим этапом.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10424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724912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Moodboard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78408" y="3108960"/>
            <a:ext cx="1002182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направления визуала: светлый clean, тёплый home, более tech/premium.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77240" y="3218688"/>
            <a:ext cx="10424160" cy="502920"/>
          </a:xfrm>
          <a:prstGeom prst="roundRect">
            <a:avLst>
              <a:gd name="adj" fmla="val 18182"/>
            </a:avLst>
          </a:prstGeom>
          <a:solidFill>
            <a:srgbClr val="F2F6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83280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Структура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78408" y="3767328"/>
            <a:ext cx="1002182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Подробная карта сайта и логика каждой страницы. Это обсуждаем отдельно.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77240" y="3877056"/>
            <a:ext cx="10424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041648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Главная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78408" y="4425696"/>
            <a:ext cx="1002182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главной: блоки сверху вниз, CTA, mobile-first.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77240" y="4535424"/>
            <a:ext cx="10424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700016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Каталог/товары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78408" y="5084064"/>
            <a:ext cx="1002182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моделей, цены, комплектация, фото, SEO.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77240" y="5193792"/>
            <a:ext cx="10424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D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5358384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Подборщик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978408" y="5742432"/>
            <a:ext cx="1002182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простая версия: параметры → условный результат → WhatsApp/звонок.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итог: дизайнеру нужно проектировать не “музыкальный магазин”, а экспертную платформу выбора караоке под помещение.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0607040" cy="0"/>
          </a:xfrm>
          <a:prstGeom prst="line">
            <a:avLst/>
          </a:prstGeom>
          <a:noFill/>
          <a:ln w="10160">
            <a:solidFill>
              <a:srgbClr val="DD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5471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62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для дизайнера, разработчика и дальнейшей работы в Codex/AI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14300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3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KaraokeShop.kz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KaraokeShop.kz — визуальный brief для дизайнера и разработчика</dc:title>
  <dc:subject>KaraokeShop.kz visual strategy brief</dc:subject>
  <dc:creator>OpenAI</dc:creator>
  <cp:lastModifiedBy>OpenAI</cp:lastModifiedBy>
  <cp:revision>1</cp:revision>
  <dcterms:created xsi:type="dcterms:W3CDTF">2026-06-22T10:14:58Z</dcterms:created>
  <dcterms:modified xsi:type="dcterms:W3CDTF">2026-06-22T10:14:58Z</dcterms:modified>
</cp:coreProperties>
</file>